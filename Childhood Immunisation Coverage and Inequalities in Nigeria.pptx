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Programme managers need to know where and among whom to focus outreach.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checked that two independent downloads agree before using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Children are finishing the series more often, but too many never start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line is a different survey family, so compare trends within a family rather than across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Children are finishing the series more often. Dropout is the gap between the first and third DTP doses.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Power BI dashboard, page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national average hides a gap of more than 80 points between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states are below 50%. The three lowest are Sokoto, Zamfara and Kebbi.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Gaps are narrowing, but the poorest children are still far behind. Demo cue: a good place for the live Power BI demo (pages 1 to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test hides whole states or a whole survey year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111 rows, the simple model is the honest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show where to look first; they are not proof of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state the limits plainly so the findings can be used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80807"/>
            <a:ext cx="10566400" cy="4564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4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80807"/>
            <a:ext cx="10566400" cy="4564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7457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 Analytics | eHA Academy Data Science Capstone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28280"/>
            <a:ext cx="10883392" cy="119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Childhood Immunisation Coverage and Inequalities in Nigeria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906507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public health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53132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Moses O. Falodun, Muflihat Abdulmajid, Aisha Hilal Galadanchi | 30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More than a third of Nigerian children miss their first DTP dose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5975" y="1847189"/>
            <a:ext cx="3380317" cy="2182548"/>
          </a:xfrm>
          <a:prstGeom prst="roundRect">
            <a:avLst>
              <a:gd name="adj" fmla="val 451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2102247"/>
            <a:ext cx="2956306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5500" b="1" dirty="0">
                <a:solidFill>
                  <a:srgbClr val="D9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1071033" y="2921397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12-23 months had no DTP1 (zero-dose proxy, NDHS 2023-24)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42" y="1847189"/>
            <a:ext cx="3380317" cy="2182548"/>
          </a:xfrm>
          <a:prstGeom prst="roundRect">
            <a:avLst>
              <a:gd name="adj" fmla="val 451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0900" y="2102247"/>
            <a:ext cx="2956306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5500" b="1" dirty="0">
                <a:solidFill>
                  <a:srgbClr val="D9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53.4%</a:t>
            </a:r>
            <a:endParaRPr lang="en-US" sz="5500" dirty="0"/>
          </a:p>
        </p:txBody>
      </p:sp>
      <p:sp>
        <p:nvSpPr>
          <p:cNvPr id="8" name="Text 6"/>
          <p:cNvSpPr/>
          <p:nvPr/>
        </p:nvSpPr>
        <p:spPr>
          <a:xfrm>
            <a:off x="4660900" y="2921397"/>
            <a:ext cx="295630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DTP3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709" y="1847189"/>
            <a:ext cx="3380317" cy="2182548"/>
          </a:xfrm>
          <a:prstGeom prst="roundRect">
            <a:avLst>
              <a:gd name="adj" fmla="val 451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0767" y="2102247"/>
            <a:ext cx="2956306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5500" b="1" dirty="0">
                <a:solidFill>
                  <a:srgbClr val="D9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39.4%</a:t>
            </a:r>
            <a:endParaRPr lang="en-US" sz="5500" dirty="0"/>
          </a:p>
        </p:txBody>
      </p:sp>
      <p:sp>
        <p:nvSpPr>
          <p:cNvPr id="11" name="Text 9"/>
          <p:cNvSpPr/>
          <p:nvPr/>
        </p:nvSpPr>
        <p:spPr>
          <a:xfrm>
            <a:off x="8250767" y="2921397"/>
            <a:ext cx="295630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vaccinated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2396" y="4337712"/>
            <a:ext cx="10806176" cy="899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this: immunisation programme managers (NPHCDA and State PHC Boards)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questions: How has coverage changed? Where and among whom is it lowest? What explains it? What should be done?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Two public sources, cleaned and cross-checked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172" y="1480807"/>
            <a:ext cx="10820400" cy="1979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WHO/UNICEF WUENIC survey data: 22 Nigerian surveys (1,140 rows)</a:t>
            </a:r>
            <a:endParaRPr lang="en-US" sz="1900" dirty="0"/>
          </a:p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DHS Program API: 37 states x 3 surveys = 111 state-survey rows</a:t>
            </a:r>
            <a:endParaRPr lang="en-US" sz="1900" dirty="0"/>
          </a:p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data issues documented and fixed (for example 122 blank survey names, zone rows removed)</a:t>
            </a:r>
            <a:endParaRPr lang="en-US" sz="1900" dirty="0"/>
          </a:p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and WUENIC national values match exactly (difference 0.0)</a:t>
            </a:r>
            <a:endParaRPr lang="en-US" sz="1900" dirty="0"/>
          </a:p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Surveys are named by fieldwork year: NDHS 2018 and NDHS 2023-24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Coverage improved modestly, but the zero-dose gap did not close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89508" y="1844015"/>
            <a:ext cx="10799064" cy="1945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DTP3: 53.4% (was 50.1%)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DTP dropout: 15.1% (was 23.3%), real progress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vaccinated: 39.4% (was 31.3%)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Zero-dose proxy (100 - DTP1): 37.1% (was 34.7%), no clear improvement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with no vaccine of any kind: 19.2% to 30.9%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Surveys disagree: coverage surveys read about 23 points above MICS, so we compare only DHS and MICS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ranks 28th of 32 African countries with a recent DHS or MICS survey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DTP3 coverage by birth cohort and survey type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5975" y="1433184"/>
            <a:ext cx="10560050" cy="2650067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Line chart of DTP3 coverage by birth cohort for each survey type">    </p:cNvPr>
          <p:cNvPicPr>
            <a:picLocks noChangeAspect="1"/>
          </p:cNvPicPr>
          <p:nvPr/>
        </p:nvPicPr>
        <p:blipFill>
          <a:blip r:embed="rId1"/>
          <a:srcRect l="0" r="0" t="-121" b="-121"/>
          <a:stretch/>
        </p:blipFill>
        <p:spPr>
          <a:xfrm>
            <a:off x="969433" y="1586641"/>
            <a:ext cx="10253134" cy="2343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34042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Power BI dashboard, page 1. Survey types are reported separately and never combined.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DTP dropout has fallen, and coverage differs by vaccine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5975" y="1433184"/>
            <a:ext cx="10560050" cy="3500967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DTP dropout by birth cohort and survey type, and coverage by vaccine for DHS 2017 and 2022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969433" y="1586641"/>
            <a:ext cx="10253134" cy="3194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5191323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Power BI dashboard, page 2.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Coverage surveys read about 23 points above MICS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5975" y="1433184"/>
            <a:ext cx="3780698" cy="2923117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Bar chart comparing DTP3 coverage from national coverage surveys and MICS">    </p:cNvPr>
          <p:cNvPicPr>
            <a:picLocks noChangeAspect="1"/>
          </p:cNvPicPr>
          <p:nvPr/>
        </p:nvPicPr>
        <p:blipFill>
          <a:blip r:embed="rId1"/>
          <a:srcRect l="0" r="0" t="-32306" b="-32306"/>
          <a:stretch/>
        </p:blipFill>
        <p:spPr>
          <a:xfrm>
            <a:off x="969433" y="1586641"/>
            <a:ext cx="3473781" cy="261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06248" y="1965127"/>
            <a:ext cx="6564141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D977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53.5% vs 29.6%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06248" y="2620435"/>
            <a:ext cx="6564141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D977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67.7% vs 44.7%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06248" y="3275741"/>
            <a:ext cx="6564141" cy="57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survey types measure coverage differently, so we report them separately and compare only DHS and MICS.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State coverage ranges from 10.9% to 94.6%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934" y="1480809"/>
            <a:ext cx="10819638" cy="15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Sokoto 10.9% against Cross River 94.6% (DTP3, 2023-24)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of 37 states are below 50%; Sokoto, Zamfara and Kebbi are about 11-13%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Zero-dose got worse in 18 of 37 states: Kogi +37.1, Plateau +21.6, Kebbi +14.0 points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improvements: Gombe -28.7, Katsina -17.7, Bauchi -16.1 points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state samples (49 to 271 children): rankings are indicative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DTP3 coverage by state, 2023-24</a:t>
            </a:r>
            <a:endParaRPr lang="en-US" sz="2600" dirty="0"/>
          </a:p>
        </p:txBody>
      </p:sp>
      <p:pic>
        <p:nvPicPr>
          <p:cNvPr id="3" name="Image 0" descr="Bar chart of DTP3 coverage by state, 2023-24, ranked from Cross River 94.6% to Sokoto 10.9%">    </p:cNvPr>
          <p:cNvPicPr>
            <a:picLocks noChangeAspect="1"/>
          </p:cNvPicPr>
          <p:nvPr/>
        </p:nvPicPr>
        <p:blipFill>
          <a:blip r:embed="rId1"/>
          <a:srcRect l="0" r="0" t="-21" b="-21"/>
          <a:stretch/>
        </p:blipFill>
        <p:spPr>
          <a:xfrm>
            <a:off x="812800" y="1379209"/>
            <a:ext cx="10566400" cy="3860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443209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Orange: below 50% (12 of 37 states). Dashed line: 50%. Small samples: rankings are indicative.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Poverty and mothers' education drive the gap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82396" y="1379209"/>
            <a:ext cx="4501134" cy="2648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Poorest fifth 35.7% against richest fifth 85.3% (DTP3, 2024)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gap narrowed: 72.5, then 56.4, then 49.6 points (2013, 2018, 2024)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Urban-rural gap narrowed from 37.3 to 19.9 points, partly because urban coverage fell (67.9% to 65.4%)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Mothers with no education 33.7% against higher education 88.6%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613400" y="1379209"/>
            <a:ext cx="562483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DTP3 coverage (%) by wealth quintile</a:t>
            </a:r>
            <a:endParaRPr lang="en-US" sz="1400" dirty="0"/>
          </a:p>
        </p:txBody>
      </p:sp>
      <p:pic>
        <p:nvPicPr>
          <p:cNvPr id="5" name="Image 0" descr="Grouped bars of DTP3 coverage by wealth quintile for 2013, 2018 and 2024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13400" y="1704318"/>
            <a:ext cx="5461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Can simple indicators explain state coverage, and is a complex model needed?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934" y="1844018"/>
            <a:ext cx="10819638" cy="1876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111 state-survey rows; targets: DTP3 and zero-dose proxy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predictors: antenatal care, facility births, skilled birth attendance, women's education, fertility, poorest-quintile share (none from vaccination data)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 training mean (baseline), ridge regression, random forest, gradient boosting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leave-one-state-out, and train on 2013 and 2018 to predict 2024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leakage check, fixed seed, every run logged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simple model matches complex ones; women's education matters most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82396" y="1844018"/>
            <a:ext cx="5678424" cy="2356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Unseen-state DTP3 error: 25.3 points (baseline) to 11.0 points (ridge), 56% lower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was best in 3 of 4 comparisons; random forest and boosting added nothing reliable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secondary education is the strongest predictor</a:t>
            </a:r>
            <a:endParaRPr lang="en-US" sz="1700" dirty="0"/>
          </a:p>
          <a:p>
            <a:pPr algn="l" marL="184404" indent="-184404">
              <a:lnSpc>
                <a:spcPts val="2295"/>
              </a:lnSpc>
              <a:buSzPct val="100000"/>
              <a:buChar char="•"/>
            </a:pPr>
            <a:r>
              <a:rPr lang="en-US" sz="17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Poorly predicted: Ebonyi, Niger, Bauchi (the model should not be trusted there)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07200" y="1844018"/>
            <a:ext cx="470916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DTP3 error, leave-one-state-out (points)</a:t>
            </a:r>
            <a:endParaRPr lang="en-US" sz="1400" dirty="0"/>
          </a:p>
        </p:txBody>
      </p:sp>
      <p:pic>
        <p:nvPicPr>
          <p:cNvPr id="5" name="Image 0" descr="Bar chart of DTP3 error by model: baseline 25.3, ridge 11.0, random forest 11.4, boosting 11.3 poin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07200" y="2169120"/>
            <a:ext cx="45720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Target outreach where coverage is lowest and falling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12535" y="1480809"/>
            <a:ext cx="10876037" cy="1876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265" indent="-254265">
              <a:lnSpc>
                <a:spcPts val="243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Sokoto, Zamfara and Kebbi (low coverage) and Kogi, Plateau and Kebbi (worsening zero-dose)</a:t>
            </a:r>
            <a:endParaRPr lang="en-US" sz="1800" dirty="0"/>
          </a:p>
          <a:p>
            <a:pPr algn="l" marL="254265" indent="-254265">
              <a:lnSpc>
                <a:spcPts val="243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poorest households and children of mothers with no education</a:t>
            </a:r>
            <a:endParaRPr lang="en-US" sz="1800" dirty="0"/>
          </a:p>
          <a:p>
            <a:pPr algn="l" marL="254265" indent="-254265">
              <a:lnSpc>
                <a:spcPts val="243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antenatal care and facility births as vaccination touchpoints</a:t>
            </a:r>
            <a:endParaRPr lang="en-US" sz="1800" dirty="0"/>
          </a:p>
          <a:p>
            <a:pPr algn="l" marL="254265" indent="-254265">
              <a:lnSpc>
                <a:spcPts val="243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zero-dose with one definition (no DTP1) and confidence intervals every survey round</a:t>
            </a:r>
            <a:endParaRPr lang="en-US" sz="1800" dirty="0"/>
          </a:p>
          <a:p>
            <a:pPr algn="l" marL="254265" indent="-254265">
              <a:lnSpc>
                <a:spcPts val="243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model to flag states for review, not for single-state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this analysis cannot tell 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172" y="1480809"/>
            <a:ext cx="10820400" cy="1653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averages, not individual children (ecological)</a:t>
            </a:r>
            <a:endParaRPr lang="en-US" sz="1900" dirty="0"/>
          </a:p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Association, not cause</a:t>
            </a:r>
            <a:endParaRPr lang="en-US" sz="1900" dirty="0"/>
          </a:p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rows; no confidence intervals for states; survey types disagree</a:t>
            </a:r>
            <a:endParaRPr lang="en-US" sz="1900" dirty="0"/>
          </a:p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apply for NDHS child-level microdata, add confidence intervals, test more predictors</a:t>
            </a:r>
            <a:endParaRPr lang="en-US" sz="1900" dirty="0"/>
          </a:p>
          <a:p>
            <a:pPr algn="l" marL="198628" indent="-198628">
              <a:lnSpc>
                <a:spcPts val="2565"/>
              </a:lnSpc>
              <a:buSzPct val="100000"/>
              <a:buChar char="•"/>
            </a:pPr>
            <a:r>
              <a:rPr lang="en-US" sz="19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data and experiment log: GitHub [link]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ildhood Immunisation Coverage and Inequalities in Nigeria">
  <a:themeElements>
    <a:clrScheme name="Childhood Immunisation Coverage and Inequalities in Nigeria">
      <a:dk1>
        <a:srgbClr val="14202B"/>
      </a:dk1>
      <a:lt1>
        <a:srgbClr val="F6F4EE"/>
      </a:lt1>
      <a:dk2>
        <a:srgbClr val="4D555C"/>
      </a:dk2>
      <a:lt2>
        <a:srgbClr val="DFDFDB"/>
      </a:lt2>
      <a:accent1>
        <a:srgbClr val="D9772B"/>
      </a:accent1>
      <a:accent2>
        <a:srgbClr val="C9D3DA"/>
      </a:accent2>
      <a:accent3>
        <a:srgbClr val="9AA0A6"/>
      </a:accent3>
      <a:accent4>
        <a:srgbClr val="6E7579"/>
      </a:accent4>
      <a:accent5>
        <a:srgbClr val="909596"/>
      </a:accent5>
      <a:accent6>
        <a:srgbClr val="B2B4B4"/>
      </a:accent6>
      <a:hlink>
        <a:srgbClr val="0563C1"/>
      </a:hlink>
      <a:folHlink>
        <a:srgbClr val="954F72"/>
      </a:folHlink>
    </a:clrScheme>
    <a:fontScheme name="Childhood Immunisation Coverage and Inequalities in Nigeri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Childhood Immunisation Coverage and Inequalities in Nigeria</dc:title>
  <dc:subject/>
  <dc:creator/>
  <cp:lastModifiedBy/>
  <cp:revision>1</cp:revision>
  <dcterms:created xsi:type="dcterms:W3CDTF">2026-10-22T10:53:33Z</dcterms:created>
  <dcterms:modified xsi:type="dcterms:W3CDTF">2026-10-22T10:53:33Z</dcterms:modified>
</cp:coreProperties>
</file>